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914400"/>
            <a:ext cx="5486400" cy="548640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3200400"/>
            <a:ext cx="4572000" cy="4572000"/>
          </a:xfrm>
          <a:prstGeom prst="roundRect">
            <a:avLst>
              <a:gd name="adj" fmla="val 10000"/>
            </a:avLst>
          </a:prstGeom>
          <a:solidFill>
            <a:srgbClr val="0066F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45920"/>
            <a:ext cx="2560320" cy="411480"/>
          </a:xfrm>
          <a:prstGeom prst="roundRect">
            <a:avLst>
              <a:gd name="adj" fmla="val 33333"/>
            </a:avLst>
          </a:prstGeom>
          <a:solidFill>
            <a:srgbClr val="0066F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459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SERVICE PROPOSAL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신상픽 (SinSangPick)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대한민국 모든 신상 먹거리의 나침반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편의점·마트 신제품 정보 &amp; 재고 조회 &amp; 내돈내산 찐리뷰 플랫폼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4572000"/>
            <a:ext cx="2286000" cy="640080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572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 실시간 신상 캘린더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4572000"/>
            <a:ext cx="2286000" cy="640080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4572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🏪  인근 편의점 재고 연동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52160" y="4572000"/>
            <a:ext cx="2286000" cy="640080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0" y="4572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 내돈내산 영수증 리뷰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321040" y="4572000"/>
            <a:ext cx="2286000" cy="640080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4572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🏷️  1+1 실속 할인 혜택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작성: 신상픽 기획/개발팀  |  플랫폼: iOS App &amp; Web  |  2026.09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320040"/>
          </a:xfrm>
          <a:prstGeom prst="roundRect">
            <a:avLst>
              <a:gd name="adj" fmla="val 28571"/>
            </a:avLst>
          </a:prstGeom>
          <a:solidFill>
            <a:srgbClr val="E0ED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BACKGROUND &amp;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'신상픽'인가? 소비자들의 4가지 핵심 불편함 (Pain Points)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100여 종 이상의 신제품이 쏟아지지만, 정작 소비자는 탐색부터 구매까지 번거로운 문제에 직면해 있습니다.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0" y="457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신상픽 SinSangPick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 먹거리 정보 &amp; 큐레이션 플랫폼 「신상픽」 서비스 소개 및 사업 기획서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12064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103120"/>
            <a:ext cx="548640" cy="36576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1031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2103120"/>
            <a:ext cx="914400" cy="320040"/>
          </a:xfrm>
          <a:prstGeom prst="roundRect">
            <a:avLst>
              <a:gd name="adj" fmla="val 22857"/>
            </a:avLst>
          </a:prstGeom>
          <a:solidFill>
            <a:srgbClr val="F1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1031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 피로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정보의 극심한 파편화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60604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CU, GS25, 세븐일레븐, 대형마트, 프랜차이즈 카페 등 신제품 소식이 인스타그램, 블로그, 각종 커뮤니티에 흩어져 매번 찾아다녀야 하는 피로감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828800"/>
            <a:ext cx="512064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2103120"/>
            <a:ext cx="548640" cy="36576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21031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058400" y="2103120"/>
            <a:ext cx="914400" cy="320040"/>
          </a:xfrm>
          <a:prstGeom prst="roundRect">
            <a:avLst>
              <a:gd name="adj" fmla="val 22857"/>
            </a:avLst>
          </a:prstGeom>
          <a:solidFill>
            <a:srgbClr val="F1F5F9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0" y="21031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부족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086600" y="21031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광고·협찬 후기 피로도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260604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SNS에 넘쳐나는 유료 광고와 바이럴 마케팅으로 인해 '진짜 맛있는지', '돈값 하는지' 신뢰할 수 있는 객관적인 맛 평가 데이터의 부재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512064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5840" y="4297680"/>
            <a:ext cx="548640" cy="36576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42976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63440" y="4297680"/>
            <a:ext cx="914400" cy="320040"/>
          </a:xfrm>
          <a:prstGeom prst="roundRect">
            <a:avLst>
              <a:gd name="adj" fmla="val 22857"/>
            </a:avLst>
          </a:prstGeom>
          <a:solidFill>
            <a:srgbClr val="F1F5F9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0" y="42976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장벽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691640" y="42976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헛걸음과 재고 불확실성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05840" y="480060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 출시 소식을 접해도 정작 내 주변 가까운 매장에 입고가 되었는지 알 수 없어 허탕을 치거나 여러 지점을 헤매는 비효율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4023360"/>
            <a:ext cx="512064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297680"/>
            <a:ext cx="548640" cy="36576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42976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0058400" y="4297680"/>
            <a:ext cx="914400" cy="320040"/>
          </a:xfrm>
          <a:prstGeom prst="roundRect">
            <a:avLst>
              <a:gd name="adj" fmla="val 22857"/>
            </a:avLst>
          </a:prstGeom>
          <a:solidFill>
            <a:srgbClr val="F1F5F9"/>
          </a:solidFill>
          <a:ln/>
        </p:spPr>
      </p:sp>
      <p:sp>
        <p:nvSpPr>
          <p:cNvPr id="33" name="Text 31"/>
          <p:cNvSpPr/>
          <p:nvPr/>
        </p:nvSpPr>
        <p:spPr>
          <a:xfrm>
            <a:off x="10058400" y="42976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손실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086600" y="42976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놓치기 쉬운 실속 할인 혜택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00800" y="480060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1+1, 2+1 등 매월 바뀌는 편의점·마트 행사 정보가 제각각이라, 언제 어디서 사야 가장 저렴한지 실질적 혜택을 체감하기 어려움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320040"/>
          </a:xfrm>
          <a:prstGeom prst="roundRect">
            <a:avLst>
              <a:gd name="adj" fmla="val 28571"/>
            </a:avLst>
          </a:prstGeom>
          <a:solidFill>
            <a:srgbClr val="E0ED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SOLUTION &amp; CORE VALUES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신상픽(SinSangPick)이 제시하는 올인원 푸드 라이프 솔루션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탐색부터 검증, 재고 확인, 실속 구매까지 신상 소비의 모든 여정을 하나로 연결합니다.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0" y="457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신상픽 SinSangPick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 먹거리 정보 &amp; 큐레이션 플랫폼 「신상픽」 서비스 소개 및 사업 기획서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2560320" cy="42062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828800"/>
            <a:ext cx="2560320" cy="594360"/>
          </a:xfrm>
          <a:prstGeom prst="roundRect">
            <a:avLst>
              <a:gd name="adj" fmla="val 23077"/>
            </a:avLst>
          </a:prstGeom>
          <a:solidFill>
            <a:srgbClr val="0066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8288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  SOLUTION 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6060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신상 아카이브 &amp; 캘린더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291840"/>
            <a:ext cx="21945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편의점 4사, 카페, 마트 신제품 실시간 수집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출시 D-Day 카운트다운 및 입고 타임라인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식약처 9대 영양성분 &amp; 비파괴 당도 규격 제공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29000" y="1828800"/>
            <a:ext cx="2560320" cy="42062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29000" y="1828800"/>
            <a:ext cx="2560320" cy="594360"/>
          </a:xfrm>
          <a:prstGeom prst="roundRect">
            <a:avLst>
              <a:gd name="adj" fmla="val 23077"/>
            </a:avLst>
          </a:prstGeom>
          <a:solidFill>
            <a:srgbClr val="FF6B00"/>
          </a:solidFill>
          <a:ln/>
        </p:spPr>
      </p:sp>
      <p:sp>
        <p:nvSpPr>
          <p:cNvPr id="15" name="Text 13"/>
          <p:cNvSpPr/>
          <p:nvPr/>
        </p:nvSpPr>
        <p:spPr>
          <a:xfrm>
            <a:off x="3429000" y="18288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 SOLUTION 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11880" y="26060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내돈내산 영수증 인증 리뷰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11880" y="3291840"/>
            <a:ext cx="21945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영수증 인증 마크로 허위·바이럴 원천 차단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맛/가성비/양/재구매 4대 다면 평가 지표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당도(Brix), 맵기 단계, 식감 미식 프로필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26480" y="1828800"/>
            <a:ext cx="2560320" cy="42062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26480" y="1828800"/>
            <a:ext cx="2560320" cy="594360"/>
          </a:xfrm>
          <a:prstGeom prst="roundRect">
            <a:avLst>
              <a:gd name="adj" fmla="val 23077"/>
            </a:avLst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18288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  SOLUTION 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09360" y="26060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인근 매장 실시간 재고 조회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09360" y="3291840"/>
            <a:ext cx="21945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내 위치 반경 편의점 매장별 실시간 재고 연동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여유 / 품절임박 / 품절 상태 한눈에 확인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허탕 치지 않는 확실한 오프라인 방문 유도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823960" y="1828800"/>
            <a:ext cx="2560320" cy="42062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23960" y="1828800"/>
            <a:ext cx="2560320" cy="594360"/>
          </a:xfrm>
          <a:prstGeom prst="roundRect">
            <a:avLst>
              <a:gd name="adj" fmla="val 23077"/>
            </a:avLst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8823960" y="18288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🥪  SOLUTION 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006840" y="26060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실속 혜택 &amp; 꿀조합 커뮤니티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006840" y="3291840"/>
            <a:ext cx="21945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1+1, 2+1, 단독특가 행사 모음 및 찜하기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SNS 화제의 편의점 꿀조합 레시피 &amp; 비용 계산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 vs B 신상 배틀 투표 및 유저 수다방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320040"/>
          </a:xfrm>
          <a:prstGeom prst="roundRect">
            <a:avLst>
              <a:gd name="adj" fmla="val 28571"/>
            </a:avLst>
          </a:prstGeom>
          <a:solidFill>
            <a:srgbClr val="E0ED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FEATURE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신제품 탐색 &amp; 출시 캘린더 (Discovery &amp; Timeline)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신제품의 사전예약부터 출시 당일 알림, 인기 브랜드 전용관까지 신상 정보를 가장 빠르게 전달합니다.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0" y="457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신상픽 SinSangPick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 먹거리 정보 &amp; 큐레이션 플랫폼 「신상픽」 서비스 소개 및 사업 기획서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103120"/>
            <a:ext cx="137160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10312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 큐레이션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05840" y="2514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9대 카테고리 실시간 신상 탐색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05840" y="288036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과자·스낵, 음료, 빵·디저트, 간편식(HMR), 패스트푸드, 아이스크림, 산지직송 제철 과일 등 전문화된 카테고리별 실시간 신제품 피드 제공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828800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2103120"/>
            <a:ext cx="137160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10312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캘린더 &amp; 푸시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00800" y="2514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신상 출시 캘린더 &amp; D-Day 알림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0" y="288036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예정일 캘린더 타임라인을 통해 'D-3', '오늘출시' 배지 제공 및 관심 상품 사전예약·입고 알림 푸시로 얼리어먹터의 신상 선점 지원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4023360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" y="4297680"/>
            <a:ext cx="137160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2976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트렌드 감지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05840" y="4709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실시간 검색 유입 랭킹 알고리즘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005840" y="507492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유저들이 검색창에서 가장 많이 찾아보고 유입된 데이터 기반 실시간 먹거리 랭킹 큐레이션으로 '지금 가장 핫한 대란템' 실시간 포착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4023360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297680"/>
            <a:ext cx="137160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42976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전용관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400800" y="4709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인기 대표 브랜드 전용관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400800" y="507492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스타벅스, 컴포즈커피, 빽다방, 이디야, 투썸플레이스, 맥도날드 등 인기 F&amp;B 프랜차이즈 브랜드별 신메뉴 및 단독 라인업 모아보기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320040"/>
          </a:xfrm>
          <a:prstGeom prst="roundRect">
            <a:avLst>
              <a:gd name="adj" fmla="val 28571"/>
            </a:avLst>
          </a:prstGeom>
          <a:solidFill>
            <a:srgbClr val="E0ED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FEATURE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내돈내산 영수증 인증 리뷰 &amp; 정밀 미식 분석 시스템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광고·협찬을 철저히 배제하고, 맛·가성비·영양성분을 객관적으로 수치화하여 실패 없는 선택을 돕습니다.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0" y="457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신상픽 SinSangPick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 먹거리 정보 &amp; 큐레이션 플랫폼 「신상픽」 서비스 소개 및 사업 기획서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120640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4대 다면 평가 &amp; 영수증 인증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05840" y="2560320"/>
            <a:ext cx="45720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2651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맛 평가 (Taste)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0" y="2651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B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4.8 / 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2944368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별점이 아닌 풍미, 조화, 첫인상 객관 점수화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05840" y="3429000"/>
            <a:ext cx="45720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35204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가성비 (Value)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0" y="3520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B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92% 만족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43000" y="3813048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정가 대비 만족도 및 1+1 행사 시 가격 대비 성능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005840" y="4297680"/>
            <a:ext cx="45720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43000" y="43891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양/용량 (Portion)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14800" y="4389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B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적당함 (88%)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" y="4681728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1인분 기준 실제 포만감 및 질소 과다 여부 검증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05840" y="5166360"/>
            <a:ext cx="45720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43000" y="5257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재구매의사 (Repurchase)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0" y="5257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B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재구매율 85%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43000" y="5550408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'무조건 재구매' vs '한 번으로 만족' 실측 확률 집계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1828800"/>
            <a:ext cx="5212080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🔬 디테일 미식 프로필 &amp; 영양성분 DB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492240" y="2560320"/>
            <a:ext cx="466344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29400" y="26517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당도(Brix) &amp; 맵기 단계 측정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629400" y="29443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과일/디저트의 실제 Brix 당도 등급 및 맵기(안매움/신라면/불닭급) 프로필 제공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3429000"/>
            <a:ext cx="466344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29400" y="352044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식약처 9대 영양성분 자동 연동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29400" y="381304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칼로리(kcal), 나트륨, 당류, 탄수화물, 지방, 트랜스지방, 포화지방, 콜레스테롤, 단백질 완벽 표기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92240" y="4297680"/>
            <a:ext cx="466344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29400" y="43891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알레르기 유발물질 &amp; 원산지 표기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629400" y="468172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밀, 대두, 우유, 견과류 등 알레르기 성분 및 식품 보관방법, 소비기한 안내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492240" y="5166360"/>
            <a:ext cx="466344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29400" y="525780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내돈내산 영수증 인증 배지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629400" y="55504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편의점·마트 구매 영수증 인증 유저에게 인증 배지 부여 및 신뢰도 가중치 부여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320040"/>
          </a:xfrm>
          <a:prstGeom prst="roundRect">
            <a:avLst>
              <a:gd name="adj" fmla="val 28571"/>
            </a:avLst>
          </a:prstGeom>
          <a:solidFill>
            <a:srgbClr val="E0ED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FEATURE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인근 매장 실시간 재고 확인 &amp; 이달의 행사 큐레이션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헛걸음 없는 100% 성공 쇼핑! 내 주변 편의점 재고 현황과 실속 1+1 할인 혜택을 한눈에 확인합니다.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0" y="457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신상픽 SinSangPick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 먹거리 정보 &amp; 큐레이션 플랫폼 「신상픽」 서비스 소개 및 사업 기획서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120640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14884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148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🏪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74520" y="2148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 인근 매장 실시간 재고 연동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874520" y="25146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헛걸음 방지 &amp; 매장 거리 안내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0" y="3108960"/>
            <a:ext cx="457200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1089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CU, GS25, 세븐일레븐, 이마트24 주요 편의점 재고 현황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05840" y="3794760"/>
            <a:ext cx="457200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37947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내 위치 기준 최단거리 매장 안내 (150m, 320m 등)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0" y="4480560"/>
            <a:ext cx="457200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0" y="44805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상태별 뱃지: [여유] [품절임박] [일시품절] [예약가능]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05840" y="5166360"/>
            <a:ext cx="457200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51663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매장 즉시 픽업 링크 및 24시간 영업 여부 안내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26480" y="1828800"/>
            <a:ext cx="5120640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214884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FFF7ED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2148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🔥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269480" y="2148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🏷️ 이달의 편의점·마트 행사소식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269480" y="25146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1+1, 2+1, 단독특가 실속 쇼핑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3108960"/>
            <a:ext cx="457200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31089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편의점 4사 및 대형마트 이달의 행사 상품 통합 정리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0" y="3794760"/>
            <a:ext cx="457200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0" y="37947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1+1 특가 적용 시 실질 개당 체감 단가 자동 계산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0" y="4480560"/>
            <a:ext cx="457200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44805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관심 행사 상품 찜하기 &amp; 행사 종료 D-Day 카운트다운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0" y="5166360"/>
            <a:ext cx="457200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51663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식품/스낵/음료 카테고리별 실속 할인 큐레이션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320040"/>
          </a:xfrm>
          <a:prstGeom prst="roundRect">
            <a:avLst>
              <a:gd name="adj" fmla="val 28571"/>
            </a:avLst>
          </a:prstGeom>
          <a:solidFill>
            <a:srgbClr val="E0ED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FEATURE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 커뮤니티 &amp; SNS 화제의 편의점 꿀조합 레시피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신제품 배틀 투표와 유저 창작 레시피를 통해 능동적으로 소통하는 미식 놀이터를 조성합니다.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0" y="457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신상픽 SinSangPick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 먹거리 정보 &amp; 큐레이션 플랫폼 「신상픽」 서비스 소개 및 사업 기획서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14884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⚔️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91640" y="214884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 배틀 (VS Match)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788920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화제의 신제품 2종 매주 맞대결 투표 및 유저 실시간 투표율(%) 집계, 영양성분·스펙 1:1 비교표 제공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828800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214884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🥪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86600" y="214884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 화제의 꿀조합 레시피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788920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마크정식, 편의점 파스타 등 신상 조합 요리의 상세 조리법, 난이도, 조리시간, 재료별 총비용 자동 계산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4023360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" y="434340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343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💬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691640" y="43434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유저 수다방 &amp; 소통 게시판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05840" y="4983480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신제품 발굴 자랑, 맛 평가 토론, 질문/답변, 편의점 알바생 꿀팁 공유 등 활발한 푸드 커뮤니티 운영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4023360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34340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4343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🎁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086600" y="43434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리워드 포인트 &amp; 뱃지 시스템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0" y="4983480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영수증 리뷰 작성, 투표 참여, 레시피 등록 시 리워드 포인트 지급 및 맛잘알 레벨업 뱃지 획득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320040"/>
          </a:xfrm>
          <a:prstGeom prst="roundRect">
            <a:avLst>
              <a:gd name="adj" fmla="val 28571"/>
            </a:avLst>
          </a:prstGeom>
          <a:solidFill>
            <a:srgbClr val="E0ED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&amp; ADMIN PIPELINE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고도화된 관리자 대시보드 &amp; 데이터 자동화 파이프라인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쇼핑 트렌드 수집부터 식약처 공공 API 매칭, 품질 검증 큐까지 자동화된 데이터 생태계를 구축했습니다.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0" y="457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신상픽 SinSangPick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 먹거리 정보 &amp; 큐레이션 플랫폼 「신상픽」 서비스 소개 및 사업 기획서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2560320" cy="42062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2148840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0066FF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1488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60120" y="25603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수집 엔진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60120" y="3063240"/>
            <a:ext cx="2103120" cy="320040"/>
          </a:xfrm>
          <a:prstGeom prst="roundRect">
            <a:avLst>
              <a:gd name="adj" fmla="val 17143"/>
            </a:avLst>
          </a:prstGeom>
          <a:solidFill>
            <a:srgbClr val="F1F5F9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0632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 Brand Collector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60120" y="3566160"/>
            <a:ext cx="21031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쇼핑 인사이트 검색 트렌드 키워드 및 주요 F&amp;B 브랜드 신제품 데이터 자동 크롤링/수집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429000" y="1828800"/>
            <a:ext cx="2560320" cy="42062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2148840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0066FF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0" y="21488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02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57600" y="25603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식약처 공공 API 매칭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0" y="3063240"/>
            <a:ext cx="2103120" cy="320040"/>
          </a:xfrm>
          <a:prstGeom prst="roundRect">
            <a:avLst>
              <a:gd name="adj" fmla="val 17143"/>
            </a:avLst>
          </a:prstGeom>
          <a:solidFill>
            <a:srgbClr val="F1F5F9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0" y="30632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 Nutrition API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657600" y="3566160"/>
            <a:ext cx="21031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식품의약품안전처 영양성분 공공 DB 실시간 검색 연동으로 9대 영양성분 및 규격 자동 추출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26480" y="1828800"/>
            <a:ext cx="2560320" cy="42062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55080" y="2148840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0066FF"/>
          </a:solidFill>
          <a:ln/>
        </p:spPr>
      </p:sp>
      <p:sp>
        <p:nvSpPr>
          <p:cNvPr id="24" name="Text 22"/>
          <p:cNvSpPr/>
          <p:nvPr/>
        </p:nvSpPr>
        <p:spPr>
          <a:xfrm>
            <a:off x="6355080" y="21488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03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355080" y="25603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승인 큐 (Quality)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355080" y="3063240"/>
            <a:ext cx="2103120" cy="320040"/>
          </a:xfrm>
          <a:prstGeom prst="roundRect">
            <a:avLst>
              <a:gd name="adj" fmla="val 17143"/>
            </a:avLst>
          </a:prstGeom>
          <a:solidFill>
            <a:srgbClr val="F1F5F9"/>
          </a:solidFill>
          <a:ln/>
        </p:spPr>
      </p:sp>
      <p:sp>
        <p:nvSpPr>
          <p:cNvPr id="27" name="Text 25"/>
          <p:cNvSpPr/>
          <p:nvPr/>
        </p:nvSpPr>
        <p:spPr>
          <a:xfrm>
            <a:off x="6355080" y="30632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 Approval Queue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55080" y="3566160"/>
            <a:ext cx="21031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쇼핑몰 가격/이미지 미매칭 상품 검증 필요 상태(Needs Review) 플래그 및 원클릭 승인/반려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823960" y="1828800"/>
            <a:ext cx="2560320" cy="42062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52560" y="2148840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0066FF"/>
          </a:solidFill>
          <a:ln/>
        </p:spPr>
      </p:sp>
      <p:sp>
        <p:nvSpPr>
          <p:cNvPr id="31" name="Text 29"/>
          <p:cNvSpPr/>
          <p:nvPr/>
        </p:nvSpPr>
        <p:spPr>
          <a:xfrm>
            <a:off x="9052560" y="21488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04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052560" y="25603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배포 &amp; 푸시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052560" y="3063240"/>
            <a:ext cx="2103120" cy="320040"/>
          </a:xfrm>
          <a:prstGeom prst="roundRect">
            <a:avLst>
              <a:gd name="adj" fmla="val 17143"/>
            </a:avLst>
          </a:prstGeom>
          <a:solidFill>
            <a:srgbClr val="F1F5F9"/>
          </a:solidFill>
          <a:ln/>
        </p:spPr>
      </p:sp>
      <p:sp>
        <p:nvSpPr>
          <p:cNvPr id="34" name="Text 32"/>
          <p:cNvSpPr/>
          <p:nvPr/>
        </p:nvSpPr>
        <p:spPr>
          <a:xfrm>
            <a:off x="9052560" y="30632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 Live Publish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052560" y="3566160"/>
            <a:ext cx="21031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완료 즉시 메인 피드 반영, 타겟 푸시 알림 발송 및 홈 배너/신상 배틀 실시간 편성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320040"/>
          </a:xfrm>
          <a:prstGeom prst="roundRect">
            <a:avLst>
              <a:gd name="adj" fmla="val 28571"/>
            </a:avLst>
          </a:prstGeom>
          <a:solidFill>
            <a:srgbClr val="E0ED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 AUDIENCE &amp; PERSONA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타겟 고객층 및 3대 사용자 페르소나 (Persona)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트렌드에 민감한 MZ세대부터 알뜰 1인 가구, 건강 식단 관리자까지 명확한 타겟군을 포괄합니다.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0" y="457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신상픽 SinSangPick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 먹거리 정보 &amp; 큐레이션 플랫폼 「신상픽」 서비스 소개 및 사업 기획서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3383280" cy="42976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148840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14884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 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05840" y="256032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✨  얼리어먹터 (Early Eater)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05840" y="29718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20대 대학생 / 사회초년생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0" y="3383280"/>
            <a:ext cx="28346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3474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핵심 니즈 (Needs)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43000" y="374904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신제품이 나오면 남들보다 먼저 먹어보고 SNS에 인증하고 싶음. 인근 편의점에 재고가 있는지 즉시 확인 필요.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05840" y="4892040"/>
            <a:ext cx="283464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49834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소비 카테고리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43000" y="5257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 과자, 한정판 음료, 인스타 대란 디저트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43400" y="1828800"/>
            <a:ext cx="3383280" cy="42976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17720" y="2148840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</p:sp>
      <p:sp>
        <p:nvSpPr>
          <p:cNvPr id="21" name="Text 19"/>
          <p:cNvSpPr/>
          <p:nvPr/>
        </p:nvSpPr>
        <p:spPr>
          <a:xfrm>
            <a:off x="4617720" y="214884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 B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617720" y="256032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 알뜰 실속형 (Smart Shopper)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617720" y="29718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2030 직장인 / 1인 가구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3383280"/>
            <a:ext cx="28346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3474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핵심 니즈 (Needs)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54880" y="374904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물가 부담으로 편의점 1+1, 2+1 행사 소식을 적극 활용하며, 간단하고 맛있는 편의점 꿀조합 레시피를 즐김.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17720" y="4892040"/>
            <a:ext cx="283464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49834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소비 카테고리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54880" y="5257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1+1 간편식, 삼각김밥, 콤보 특가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955280" y="1828800"/>
            <a:ext cx="3383280" cy="42976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0" y="2148840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214884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 C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229600" y="256032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🥗  헬시플레저 (Health &amp; Fit)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229600" y="29718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식단 관리자 / 다이어터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229600" y="3383280"/>
            <a:ext cx="28346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66760" y="3474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핵심 니즈 (Needs)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66760" y="374904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신제품의 칼로리, 당류, 나트륨, 단백질 함량을 꼼꼼히 확인하고 건강하게 즐길 수 있는 먹거리를 선별 소비.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892040"/>
            <a:ext cx="283464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66760" y="49834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소비 카테고리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66760" y="5257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제로 탄산, 단백질 바, 저당 디저트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320040"/>
          </a:xfrm>
          <a:prstGeom prst="roundRect">
            <a:avLst>
              <a:gd name="adj" fmla="val 28571"/>
            </a:avLst>
          </a:prstGeom>
          <a:solidFill>
            <a:srgbClr val="E0ED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 REVENUE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다각화된 비즈니스 수익 창출 모델 (Business Model)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식품 제조사 마케팅부터 제휴 커머스 수수료, 트렌드 빅데이터 판매까지 지속 가능한 수익 구조를 확보합니다.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0" y="457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신상픽 SinSangPick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 먹거리 정보 &amp; 큐레이션 플랫폼 「신상픽」 서비스 소개 및 사업 기획서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103120"/>
            <a:ext cx="548640" cy="347472"/>
          </a:xfrm>
          <a:prstGeom prst="roundRect">
            <a:avLst>
              <a:gd name="adj" fmla="val 21053"/>
            </a:avLst>
          </a:prstGeom>
          <a:solidFill>
            <a:srgbClr val="0066FF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10312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10312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신제품 마케팅 &amp; 스폰서십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05840" y="25603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식품 대기업 및 F&amp;B 프랜차이즈 대상 신제품 런칭 홈 배너, 브랜드 전용관 입점, 무료 신상 체험단 100명 모집 대행 광고비 수취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4572000" cy="347472"/>
          </a:xfrm>
          <a:prstGeom prst="roundRect">
            <a:avLst>
              <a:gd name="adj" fmla="val 15789"/>
            </a:avLst>
          </a:prstGeom>
          <a:solidFill>
            <a:srgbClr val="F8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29184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타겟: 식품 제조사 / 프랜차이즈  |  수익 모델: 스폰서십 광고비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0" y="1828800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2103120"/>
            <a:ext cx="548640" cy="347472"/>
          </a:xfrm>
          <a:prstGeom prst="roundRect">
            <a:avLst>
              <a:gd name="adj" fmla="val 21053"/>
            </a:avLst>
          </a:prstGeom>
          <a:solidFill>
            <a:srgbClr val="0066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210312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86600" y="210312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커머스 &amp; 픽업 수수료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0" y="25603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파트너스, 마켓컬리, 편의점 공식 앱 픽업 주문 링크 연동을 통한 구매 전환 수수료(Affiliate Commission) 발생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3291840"/>
            <a:ext cx="4572000" cy="347472"/>
          </a:xfrm>
          <a:prstGeom prst="roundRect">
            <a:avLst>
              <a:gd name="adj" fmla="val 15789"/>
            </a:avLst>
          </a:prstGeom>
          <a:solidFill>
            <a:srgbClr val="F8FAFC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329184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타겟: 이커머스 / 편의점 픽업  |  수익 모델: 구매 전환 수수료 (3~8%)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5840" y="4297680"/>
            <a:ext cx="548640" cy="347472"/>
          </a:xfrm>
          <a:prstGeom prst="roundRect">
            <a:avLst>
              <a:gd name="adj" fmla="val 21053"/>
            </a:avLst>
          </a:prstGeom>
          <a:solidFill>
            <a:srgbClr val="0066FF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429768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691640" y="429768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F&amp;B 트렌드 빅데이터 리포트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005840" y="475488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신제품 카테고리별 검색 유입량, 연령/지역별 선호 맛 프로필, 재구매 의향률 등 실측 소비자 행동 인사이트 데이터 판매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005840" y="5486400"/>
            <a:ext cx="4572000" cy="347472"/>
          </a:xfrm>
          <a:prstGeom prst="roundRect">
            <a:avLst>
              <a:gd name="adj" fmla="val 15789"/>
            </a:avLst>
          </a:prstGeom>
          <a:solidFill>
            <a:srgbClr val="F8FAFC"/>
          </a:solidFill>
          <a:ln/>
        </p:spPr>
      </p:sp>
      <p:sp>
        <p:nvSpPr>
          <p:cNvPr id="28" name="Text 26"/>
          <p:cNvSpPr/>
          <p:nvPr/>
        </p:nvSpPr>
        <p:spPr>
          <a:xfrm>
            <a:off x="1097280" y="548640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타겟: 식품 연구소 / 상품기획(MD)  |  수익 모델: 월 구독형 데이터 리포트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126480" y="4023360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297680"/>
            <a:ext cx="548640" cy="347472"/>
          </a:xfrm>
          <a:prstGeom prst="roundRect">
            <a:avLst>
              <a:gd name="adj" fmla="val 21053"/>
            </a:avLst>
          </a:prstGeom>
          <a:solidFill>
            <a:srgbClr val="0066F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429768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86600" y="429768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편의점 타겟 입고 알림 광고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400800" y="475488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지역(구/동 단위) 편의점 가맹점주 대상, 신제품 입고 시 인근 반경 사용자에게 타겟 푸시 알림을 발송하는 로컬 광고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0" y="5486400"/>
            <a:ext cx="4572000" cy="347472"/>
          </a:xfrm>
          <a:prstGeom prst="roundRect">
            <a:avLst>
              <a:gd name="adj" fmla="val 15789"/>
            </a:avLst>
          </a:prstGeom>
          <a:solidFill>
            <a:srgbClr val="F8FAFC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0" y="548640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타겟: 편의점 점주 / 로컬 상권  |  수익 모델: 건당 푸시 알림 광고료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320040"/>
          </a:xfrm>
          <a:prstGeom prst="roundRect">
            <a:avLst>
              <a:gd name="adj" fmla="val 28571"/>
            </a:avLst>
          </a:prstGeom>
          <a:solidFill>
            <a:srgbClr val="E0ED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 &amp;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기술 스택 &amp; 크로스 플랫폼 아키텍처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웹부터 iOS 모바일 네이티브 앱까지 완전한 CI/CD 자동화 배포 파이프라인을 구축했습니다.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0" y="457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신상픽 SinSangPick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 먹거리 정보 &amp; 큐레이션 플랫폼 「신상픽」 서비스 소개 및 사업 기획서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2560320" cy="42062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828800"/>
            <a:ext cx="2560320" cy="502920"/>
          </a:xfrm>
          <a:prstGeom prst="roundRect">
            <a:avLst>
              <a:gd name="adj" fmla="val 27273"/>
            </a:avLst>
          </a:prstGeom>
          <a:solidFill>
            <a:srgbClr val="0066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8288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프론트엔드 (Frontend)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2560320"/>
            <a:ext cx="2103120" cy="329184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56032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60120" y="2971800"/>
            <a:ext cx="2103120" cy="329184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97180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60120" y="3383280"/>
            <a:ext cx="2103120" cy="329184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38328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60120" y="3794760"/>
            <a:ext cx="2103120" cy="329184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79476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60120" y="4206240"/>
            <a:ext cx="2103120" cy="329184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20624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Lucide React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0120" y="475488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반응형 모바일 퍼스트 UI, 빠르고 가벼운 번들링 및 타입 안정성 보장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429000" y="1828800"/>
            <a:ext cx="2560320" cy="42062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29000" y="1828800"/>
            <a:ext cx="2560320" cy="502920"/>
          </a:xfrm>
          <a:prstGeom prst="roundRect">
            <a:avLst>
              <a:gd name="adj" fmla="val 27273"/>
            </a:avLst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18288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&amp; DB (Backend / DB)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0" y="2560320"/>
            <a:ext cx="2103120" cy="329184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0" y="256032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57600" y="2971800"/>
            <a:ext cx="2103120" cy="329184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0" y="297180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657600" y="3383280"/>
            <a:ext cx="2103120" cy="329184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0" y="338328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Realtime WebSocket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0" y="3794760"/>
            <a:ext cx="2103120" cy="329184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0" y="379476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 Level Security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0" y="475488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투표 및 재고 반영, 엔터프라이즈급 DB 무결성 및 강력한 보안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26480" y="1828800"/>
            <a:ext cx="2560320" cy="42062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26480" y="1828800"/>
            <a:ext cx="2560320" cy="502920"/>
          </a:xfrm>
          <a:prstGeom prst="roundRect">
            <a:avLst>
              <a:gd name="adj" fmla="val 27273"/>
            </a:avLst>
          </a:prstGeom>
          <a:solidFill>
            <a:srgbClr val="8B5CF6"/>
          </a:solidFill>
          <a:ln/>
        </p:spPr>
      </p:sp>
      <p:sp>
        <p:nvSpPr>
          <p:cNvPr id="36" name="Text 34"/>
          <p:cNvSpPr/>
          <p:nvPr/>
        </p:nvSpPr>
        <p:spPr>
          <a:xfrm>
            <a:off x="6126480" y="18288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네이티브 (Hybrid Native)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2560320"/>
            <a:ext cx="2103120" cy="329184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55080" y="256032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Capacitor 6.0 iOS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355080" y="2971800"/>
            <a:ext cx="2103120" cy="329184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55080" y="297180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 Connect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355080" y="3383280"/>
            <a:ext cx="2103120" cy="329184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55080" y="338328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Push Notification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355080" y="3794760"/>
            <a:ext cx="2103120" cy="329184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55080" y="379476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Camera OCR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55080" y="475488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Capacitor 기반 단일 코드베이스로 iOS 네이티브 앱스토어 배포 및 푸시 알림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823960" y="1828800"/>
            <a:ext cx="2560320" cy="42062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823960" y="1828800"/>
            <a:ext cx="2560320" cy="502920"/>
          </a:xfrm>
          <a:prstGeom prst="roundRect">
            <a:avLst>
              <a:gd name="adj" fmla="val 27273"/>
            </a:avLst>
          </a:prstGeom>
          <a:solidFill>
            <a:srgbClr val="FF6B00"/>
          </a:solidFill>
          <a:ln/>
        </p:spPr>
      </p:sp>
      <p:sp>
        <p:nvSpPr>
          <p:cNvPr id="48" name="Text 46"/>
          <p:cNvSpPr/>
          <p:nvPr/>
        </p:nvSpPr>
        <p:spPr>
          <a:xfrm>
            <a:off x="8823960" y="18288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 &amp; CI/CD (DevOps)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052560" y="2560320"/>
            <a:ext cx="2103120" cy="329184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052560" y="256032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Production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9052560" y="2971800"/>
            <a:ext cx="2103120" cy="329184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52560" y="297180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052560" y="3383280"/>
            <a:ext cx="2103120" cy="329184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0" y="338328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식약처 공공 API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052560" y="3794760"/>
            <a:ext cx="2103120" cy="329184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052560" y="379476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쇼핑 API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9052560" y="475488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시 Vercel 웹 배포 및 iOS TestFlight/App Store 자동 빌드 배포 완비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320040"/>
          </a:xfrm>
          <a:prstGeom prst="roundRect">
            <a:avLst>
              <a:gd name="adj" fmla="val 28571"/>
            </a:avLst>
          </a:prstGeom>
          <a:solidFill>
            <a:srgbClr val="E0ED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ROADMAP &amp; VISION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단계별 로드맵 &amp; 미래 비전 (Roadmap)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편의점 신상 정보 아카이브를 시작으로, 대한민국 F&amp;B의 모든 트렌드를 주도하는 메가 플랫폼으로 도약합니다.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0" y="457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신상픽 SinSangPick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 먹거리 정보 &amp; 큐레이션 플랫폼 「신상픽」 서비스 소개 및 사업 기획서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3383280" cy="42976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828800"/>
            <a:ext cx="3383280" cy="548640"/>
          </a:xfrm>
          <a:prstGeom prst="roundRect">
            <a:avLst>
              <a:gd name="adj" fmla="val 25000"/>
            </a:avLst>
          </a:prstGeom>
          <a:solidFill>
            <a:srgbClr val="0066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828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(현재)  |  2026 상반기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2560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 진입 &amp; 기반 구축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3200400"/>
            <a:ext cx="27432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편의점 4사 신제품 데이터베이스 구축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내돈내산 영수증 인증 리뷰 및 배틀 런칭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iOS 앱스토어 및 웹 정식 런칭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얼리어먹터 초기 커뮤니티 1만 명 확보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43400" y="1828800"/>
            <a:ext cx="3383280" cy="42976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400" y="1828800"/>
            <a:ext cx="3383280" cy="54864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828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(확장)  |  2026 하반기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17720" y="2560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고도화 &amp; 개인화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63440" y="3200400"/>
            <a:ext cx="27432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대형마트/백화점 팝업스토어로 영역 확대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유저 취향 기반 AI 신제품 추천 알고리즘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B2B 브랜드 전용관 및 스폰서십 활성화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MAU 10만 명 돌파 및 수익 모델 검증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955280" y="1828800"/>
            <a:ext cx="3383280" cy="42976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55280" y="1828800"/>
            <a:ext cx="3383280" cy="548640"/>
          </a:xfrm>
          <a:prstGeom prst="roundRect">
            <a:avLst>
              <a:gd name="adj" fmla="val 25000"/>
            </a:avLst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7955280" y="1828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(도약)  |  2027~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0" y="2560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커머스 연동 &amp; F&amp;B 생태계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75320" y="3200400"/>
            <a:ext cx="27432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편의점·마트 다이렉트 픽업 예약 결제 연동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식품 대기업과 신상픽 단독 한정판 신상 출시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F&amp;B 상품 기획용 소비자 빅데이터 SaaS 출시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대한민국 No.1 먹거리 디스커버리 플랫폼 완성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14400"/>
            <a:ext cx="10360152" cy="5029200"/>
          </a:xfrm>
          <a:prstGeom prst="roundRect">
            <a:avLst>
              <a:gd name="adj" fmla="val 363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1371600"/>
            <a:ext cx="3044952" cy="411480"/>
          </a:xfrm>
          <a:prstGeom prst="roundRect">
            <a:avLst>
              <a:gd name="adj" fmla="val 22222"/>
            </a:avLst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0" y="1371600"/>
            <a:ext cx="3044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THANK YOU FOR LISTENING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28800" y="2011680"/>
            <a:ext cx="853135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맛있는 내일을 고르는 곳,</a:t>
            </a:r>
            <a:endParaRPr lang="en-US" sz="3400" dirty="0"/>
          </a:p>
          <a:p>
            <a:pPr algn="ctr"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신상픽 (SinSangPick)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828800" y="3474720"/>
            <a:ext cx="85313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대한민국 먹거리 소비의 새로운 기준을 세워가겠습니다.</a:t>
            </a:r>
            <a:endParaRPr lang="en-US" sz="15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궁금하신 점이 있으시면 언제든지 말씀해 주세요.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0" y="4389120"/>
            <a:ext cx="5788152" cy="1005840"/>
          </a:xfrm>
          <a:prstGeom prst="roundRect">
            <a:avLst>
              <a:gd name="adj" fmla="val 9091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0" y="4389120"/>
            <a:ext cx="57881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 웹 서비스: sinsangpick.app  |  📱 iOS 앱스토어: '신상픽' 검색</a:t>
            </a:r>
            <a:endParaRPr lang="en-US" sz="12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✉️ 제휴 및 문의: contact@sinsangpick.app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2026-09-12T09:38:48Z</dcterms:created>
  <dcterms:modified xsi:type="dcterms:W3CDTF">2026-09-12T09:38:48Z</dcterms:modified>
</cp:coreProperties>
</file>